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417320"/>
            <a:ext cx="2011680" cy="635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164592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B1B1B"/>
                </a:solidFill>
              </a:rPr>
              <a:t>Writing Efficient MCP Servers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</a:rPr>
              <a:t>OraViz: a minimal, visualization-first MCP server for Oracle AI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1B1B"/>
                </a:solidFill>
              </a:rPr>
              <a:t>Nacho Martinez  ·  github.com/jasperan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</a:rPr>
              <a:t>September 2026  ·  results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</a:rPr>
              <a:t>Agents pay for tools with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463040" cy="457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OraViz MCP · github.com/jasperan/oraviz-mcp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1B1B"/>
                </a:solidFill>
              </a:rPr>
              <a:t>•  Tool schemas are read once per session, before any work starts.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1B1B"/>
                </a:solidFill>
              </a:rPr>
              <a:t>•  Tool results are read on every call and stay in the conversation.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1B1B"/>
                </a:solidFill>
              </a:rPr>
              <a:t>•  General-purpose servers ship big schemas and return unbounded rows.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1B1B"/>
                </a:solidFill>
              </a:rPr>
              <a:t>•  Faithful formats (CSV, text tables) grow linearly with the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645920"/>
            <a:ext cx="3931920" cy="1417320"/>
          </a:xfrm>
          <a:prstGeom prst="roundRect">
            <a:avLst/>
          </a:prstGeom>
          <a:solidFill>
            <a:srgbClr val="F4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3400" b="1">
                <a:solidFill>
                  <a:srgbClr val="C74634"/>
                </a:solidFill>
              </a:rPr>
              <a:t>2,139</a:t>
            </a:r>
          </a:p>
          <a:p>
            <a:pPr algn="ctr"/>
            <a:r>
              <a:rPr sz="1200">
                <a:solidFill>
                  <a:srgbClr val="6B6B6B"/>
                </a:solidFill>
              </a:rPr>
              <a:t>tokens of tool schemas — official SQLcl MCP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3291840"/>
            <a:ext cx="3931920" cy="1417320"/>
          </a:xfrm>
          <a:prstGeom prst="roundRect">
            <a:avLst/>
          </a:prstGeom>
          <a:solidFill>
            <a:srgbClr val="F4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3400" b="1">
                <a:solidFill>
                  <a:srgbClr val="C74634"/>
                </a:solidFill>
              </a:rPr>
              <a:t>844</a:t>
            </a:r>
          </a:p>
          <a:p>
            <a:pPr algn="ctr"/>
            <a:r>
              <a:rPr sz="1200">
                <a:solidFill>
                  <a:srgbClr val="6B6B6B"/>
                </a:solidFill>
              </a:rPr>
              <a:t>tokens of tool schemas — OraViz (60.5% fewer)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50292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The server author decides what the agent must read. That is a design surface.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</a:rPr>
              <a:t>Design rules for efficient MCP servers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463040" cy="457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OraViz MCP · github.com/jasperan/oraviz-mcp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B1B1B"/>
                </a:solidFill>
              </a:rPr>
              <a:t>•  One tool, one question — narrow schemas, unambiguous choice.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1B1B"/>
                </a:solidFill>
              </a:rPr>
              <a:t>•  Declare budgets and enforce them — cost set by config, not data.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1B1B"/>
                </a:solidFill>
              </a:rPr>
              <a:t>•  Report truncation honestly — row counts and explicit markers.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1B1B"/>
                </a:solidFill>
              </a:rPr>
              <a:t>•  Summarize by value type — vectors, binary, long text.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1B1B"/>
                </a:solidFill>
              </a:rPr>
              <a:t>•  Profile before you plot — aggregate in SQL, chart the result.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1B1B"/>
                </a:solidFill>
              </a:rPr>
              <a:t>•  Substitute modality — a picture can answer at constant text cost.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B1B1B"/>
                </a:solidFill>
              </a:rPr>
              <a:t>•  Time-box execution — a statement timeout, not a hung call.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600200"/>
            <a:ext cx="4114800" cy="3200400"/>
          </a:xfrm>
          <a:prstGeom prst="roundRect">
            <a:avLst/>
          </a:prstGeom>
          <a:solidFill>
            <a:srgbClr val="F4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B1B1B"/>
                </a:solidFill>
              </a:rPr>
              <a:t>The context contract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B1B1B"/>
                </a:solidFill>
              </a:rPr>
              <a:t>preview cap: 25 rows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B1B1B"/>
                </a:solidFill>
              </a:rPr>
              <a:t>hard cap: 500 rows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B1B1B"/>
                </a:solidFill>
              </a:rPr>
              <a:t>cell limit: 500 chars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B1B1B"/>
                </a:solidFill>
              </a:rPr>
              <a:t>statement timeout: 60 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6B6B6B"/>
                </a:solidFill>
              </a:rPr>
              <a:t>result cost bounded, independent of table size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</a:rPr>
              <a:t>Architecture: one validated query per call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463040" cy="457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OraViz MCP · github.com/jasperan/oraviz-mcp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37744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1B1B1B"/>
                </a:solidFill>
              </a:rPr>
              <a:t>MCP client
(agent)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194560"/>
            <a:ext cx="237744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1B1B1B"/>
                </a:solidFill>
              </a:rPr>
              <a:t>Validation
guard, identifiers, caps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194560"/>
            <a:ext cx="237744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1B1B1B"/>
                </a:solidFill>
              </a:rPr>
              <a:t>python-oracledb
thin mode, timeout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2194560"/>
            <a:ext cx="237744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1B1B1B"/>
                </a:solidFill>
              </a:rPr>
              <a:t>Oracle AI Database
26ai Free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63240" y="2651760"/>
            <a:ext cx="457200" cy="274320"/>
          </a:xfrm>
          <a:prstGeom prst="rightArrow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989320" y="2651760"/>
            <a:ext cx="457200" cy="274320"/>
          </a:xfrm>
          <a:prstGeom prst="rightArrow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8915400" y="2651760"/>
            <a:ext cx="457200" cy="274320"/>
          </a:xfrm>
          <a:prstGeom prst="rightArrow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4206240"/>
            <a:ext cx="5303520" cy="914400"/>
          </a:xfrm>
          <a:prstGeom prst="roundRect">
            <a:avLst/>
          </a:prstGeom>
          <a:solidFill>
            <a:srgbClr val="F4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1B1B1B"/>
                </a:solidFill>
              </a:rPr>
              <a:t>Renderer: compact markdown · profile · chart PNG (+ preview)</a:t>
            </a:r>
          </a:p>
        </p:txBody>
      </p:sp>
      <p:sp>
        <p:nvSpPr>
          <p:cNvPr id="14" name="Up Arrow 13"/>
          <p:cNvSpPr/>
          <p:nvPr/>
        </p:nvSpPr>
        <p:spPr>
          <a:xfrm>
            <a:off x="868680" y="4206240"/>
            <a:ext cx="457200" cy="914400"/>
          </a:xfrm>
          <a:prstGeom prst="upArrow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534924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6B6B"/>
                </a:solidFill>
              </a:rPr>
              <a:t>Every result re-enters the conversation under the contract: bounded rows, bounded cells, honest truncation markers, or one image.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</a:rPr>
              <a:t>Benchmark: identical questions, same database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463040" cy="457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OraViz MCP · github.com/jasperan/oraviz-mcp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B1B1B"/>
                </a:solidFill>
              </a:rPr>
              <a:t>•  OraViz (7 tools) vs. official SQLcl 26.1 MCP server (sql -mcp).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B1B1B"/>
                </a:solidFill>
              </a:rPr>
              <a:t>•  Same Oracle AI Database 26ai Free container and demo data (96 rows).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B1B1B"/>
                </a:solidFill>
              </a:rPr>
              <a:t>•  Five questions: list objects, describe, aggregate, sample 10, full dump.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B1B1B"/>
                </a:solidFill>
              </a:rPr>
              <a:t>•  Counted per question: tool schemas + tool results, tiktoken cl100k.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B1B1B"/>
                </a:solidFill>
              </a:rPr>
              <a:t>•  Chart images excluded from text accounting, reported separately.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00200"/>
            <a:ext cx="4983480" cy="4023360"/>
          </a:xfrm>
          <a:prstGeom prst="roundRect">
            <a:avLst/>
          </a:prstGeom>
          <a:solidFill>
            <a:srgbClr val="F4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1B1B1B"/>
                </a:solidFill>
              </a:rPr>
              <a:t>Reproducible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</a:rPr>
              <a:t>benchmarks/run_benchmarks.py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</a:rPr>
              <a:t>benchmarks/results/*.json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B1B1B"/>
                </a:solidFill>
              </a:rPr>
              <a:t>paper/paper.pdf</a:t>
            </a:r>
          </a:p>
          <a:p>
            <a:pPr>
              <a:spcAft>
                <a:spcPts val="800"/>
              </a:spcAft>
            </a:pPr>
            <a:r>
              <a:rPr sz="1000" b="0">
                <a:solidFill>
                  <a:srgbClr val="1B1B1B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6B6B6B"/>
                </a:solidFill>
              </a:rPr>
              <a:t>Deterministic: static database, text-only accounting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</a:rPr>
              <a:t>Per-question tokens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463040" cy="457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OraViz MCP · github.com/jasperan/oraviz-mcp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6</a:t>
            </a:r>
          </a:p>
        </p:txBody>
      </p:sp>
      <p:pic>
        <p:nvPicPr>
          <p:cNvPr id="6" name="Picture 5" descr="fig_benchmark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8229600" cy="362884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281160" y="1600200"/>
            <a:ext cx="2377440" cy="1417320"/>
          </a:xfrm>
          <a:prstGeom prst="roundRect">
            <a:avLst/>
          </a:prstGeom>
          <a:solidFill>
            <a:srgbClr val="F4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3400" b="1">
                <a:solidFill>
                  <a:srgbClr val="C74634"/>
                </a:solidFill>
              </a:rPr>
              <a:t>-80.5%</a:t>
            </a:r>
          </a:p>
          <a:p>
            <a:pPr algn="ctr"/>
            <a:r>
              <a:rPr sz="1200">
                <a:solidFill>
                  <a:srgbClr val="6B6B6B"/>
                </a:solidFill>
              </a:rPr>
              <a:t>schema discovery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3154680"/>
            <a:ext cx="2377440" cy="1417320"/>
          </a:xfrm>
          <a:prstGeom prst="roundRect">
            <a:avLst/>
          </a:prstGeom>
          <a:solidFill>
            <a:srgbClr val="F4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3400" b="1">
                <a:solidFill>
                  <a:srgbClr val="C74634"/>
                </a:solidFill>
              </a:rPr>
              <a:t>-61.4%</a:t>
            </a:r>
          </a:p>
          <a:p>
            <a:pPr algn="ctr"/>
            <a:r>
              <a:rPr sz="1200">
                <a:solidFill>
                  <a:srgbClr val="6B6B6B"/>
                </a:solidFill>
              </a:rPr>
              <a:t>wide 96-row dump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47091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</a:rPr>
              <a:t>Small result sets cost ~55% more framing tokens (markdown vs CSV) - bounded by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</a:rPr>
              <a:t>Workflow totals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463040" cy="457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OraViz MCP · github.com/jasperan/oraviz-mcp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474720" cy="1417320"/>
          </a:xfrm>
          <a:prstGeom prst="roundRect">
            <a:avLst/>
          </a:prstGeom>
          <a:solidFill>
            <a:srgbClr val="F4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3400" b="1">
                <a:solidFill>
                  <a:srgbClr val="C74634"/>
                </a:solidFill>
              </a:rPr>
              <a:t>-60.5%</a:t>
            </a:r>
          </a:p>
          <a:p>
            <a:pPr algn="ctr"/>
            <a:r>
              <a:rPr sz="1200">
                <a:solidFill>
                  <a:srgbClr val="6B6B6B"/>
                </a:solidFill>
              </a:rPr>
              <a:t>tool schemas (844 vs 2,139)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1417320"/>
          </a:xfrm>
          <a:prstGeom prst="roundRect">
            <a:avLst/>
          </a:prstGeom>
          <a:solidFill>
            <a:srgbClr val="F4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3400" b="1">
                <a:solidFill>
                  <a:srgbClr val="C74634"/>
                </a:solidFill>
              </a:rPr>
              <a:t>-53.7%</a:t>
            </a:r>
          </a:p>
          <a:p>
            <a:pPr algn="ctr"/>
            <a:r>
              <a:rPr sz="1200">
                <a:solidFill>
                  <a:srgbClr val="6B6B6B"/>
                </a:solidFill>
              </a:rPr>
              <a:t>tool results (2,319 vs 5,004)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474720" cy="1417320"/>
          </a:xfrm>
          <a:prstGeom prst="roundRect">
            <a:avLst/>
          </a:prstGeom>
          <a:solidFill>
            <a:srgbClr val="F4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3400" b="1">
                <a:solidFill>
                  <a:srgbClr val="C74634"/>
                </a:solidFill>
              </a:rPr>
              <a:t>-53.7%</a:t>
            </a:r>
          </a:p>
          <a:p>
            <a:pPr algn="ctr"/>
            <a:r>
              <a:rPr sz="1200">
                <a:solidFill>
                  <a:srgbClr val="6B6B6B"/>
                </a:solidFill>
              </a:rPr>
              <a:t>total (2,319 vs 5,006)</a:t>
            </a:r>
          </a:p>
        </p:txBody>
      </p:sp>
      <p:pic>
        <p:nvPicPr>
          <p:cNvPr id="9" name="Picture 8" descr="fig_benchmark_tot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444" y="3108960"/>
            <a:ext cx="5722806" cy="2560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</a:rPr>
              <a:t>o200k_base agrees within one point (53.6% total savings).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</a:rPr>
              <a:t>The honest edges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463040" cy="457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OraViz MCP · github.com/jasperan/oraviz-mcp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74634"/>
                </a:solidFill>
              </a:rPr>
              <a:t>Where minimalism loses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B1B1B"/>
                </a:solidFill>
              </a:rPr>
              <a:t>•  Small results: markdown framing costs ~55% more than CSV.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B1B1B"/>
                </a:solidFill>
              </a:rPr>
              <a:t>•  But that overhead is bounded by columns and caps, not row count.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B1B1B"/>
                </a:solidFill>
              </a:rPr>
              <a:t>•  Unbounded formats grow with the data; bounded ones do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74634"/>
                </a:solidFill>
              </a:rPr>
              <a:t>And where structure wins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B1B1B"/>
                </a:solidFill>
              </a:rPr>
              <a:t>•  Charts: the aggregate rendered to PNG costs 123 text tokens.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B1B1B"/>
                </a:solidFill>
              </a:rPr>
              <a:t>•  No chart tool exists in the official server (capability add-on).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B1B1B"/>
                </a:solidFill>
              </a:rPr>
              <a:t>•  Truncation markers keep the agent in control of its budget.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</a:rPr>
              <a:t>How the result was produced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463040" cy="457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OraViz MCP · github.com/jasperan/oraviz-mcp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1691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B1B1B"/>
                </a:solidFill>
              </a:rPr>
              <a:t>Design
contract</a:t>
            </a:r>
          </a:p>
          <a:p>
            <a:pPr algn="ctr"/>
            <a:r>
              <a:rPr sz="1050">
                <a:solidFill>
                  <a:srgbClr val="6B6B6B"/>
                </a:solidFill>
              </a:rPr>
              <a:t>budgets + 7 tools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21992" y="2724912"/>
            <a:ext cx="219456" cy="219456"/>
          </a:xfrm>
          <a:prstGeom prst="rightArrow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68880" y="2103120"/>
            <a:ext cx="1691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B1B1B"/>
                </a:solidFill>
              </a:rPr>
              <a:t>Build
artifact</a:t>
            </a:r>
          </a:p>
          <a:p>
            <a:pPr algn="ctr"/>
            <a:r>
              <a:rPr sz="1050">
                <a:solidFill>
                  <a:srgbClr val="6B6B6B"/>
                </a:solidFill>
              </a:rPr>
              <a:t>~630 statements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87952" y="2724912"/>
            <a:ext cx="219456" cy="219456"/>
          </a:xfrm>
          <a:prstGeom prst="rightArrow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2103120"/>
            <a:ext cx="1691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B1B1B"/>
                </a:solidFill>
              </a:rPr>
              <a:t>Test
suite</a:t>
            </a:r>
          </a:p>
          <a:p>
            <a:pPr algn="ctr"/>
            <a:r>
              <a:rPr sz="1050">
                <a:solidFill>
                  <a:srgbClr val="6B6B6B"/>
                </a:solidFill>
              </a:rPr>
              <a:t>146 unit + 9 live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153912" y="2724912"/>
            <a:ext cx="219456" cy="219456"/>
          </a:xfrm>
          <a:prstGeom prst="rightArrow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103120"/>
            <a:ext cx="1691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B1B1B"/>
                </a:solidFill>
              </a:rPr>
              <a:t>Agent
integration</a:t>
            </a:r>
          </a:p>
          <a:p>
            <a:pPr algn="ctr"/>
            <a:r>
              <a:rPr sz="1050">
                <a:solidFill>
                  <a:srgbClr val="6B6B6B"/>
                </a:solidFill>
              </a:rPr>
              <a:t>stdio MCP client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119872" y="2724912"/>
            <a:ext cx="219456" cy="219456"/>
          </a:xfrm>
          <a:prstGeom prst="rightArrow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66760" y="2103120"/>
            <a:ext cx="1691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B1B1B"/>
                </a:solidFill>
              </a:rPr>
              <a:t>Benchmark
vs SQLcl</a:t>
            </a:r>
          </a:p>
          <a:p>
            <a:pPr algn="ctr"/>
            <a:r>
              <a:rPr sz="1050">
                <a:solidFill>
                  <a:srgbClr val="6B6B6B"/>
                </a:solidFill>
              </a:rPr>
              <a:t>tiktoken accounting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085832" y="2724912"/>
            <a:ext cx="219456" cy="219456"/>
          </a:xfrm>
          <a:prstGeom prst="rightArrow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332720" y="2103120"/>
            <a:ext cx="1691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B1B1B"/>
                </a:solidFill>
              </a:rPr>
              <a:t>Paper
+ site</a:t>
            </a:r>
          </a:p>
          <a:p>
            <a:pPr algn="ctr"/>
            <a:r>
              <a:rPr sz="1050">
                <a:solidFill>
                  <a:srgbClr val="6B6B6B"/>
                </a:solidFill>
              </a:rPr>
              <a:t>results &amp; repro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062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</a:rPr>
              <a:t>97.9% line coverage, CI-gated at 90%  ·  container image on GHCR  ·  live Oracle integration tests  ·  review-driven hardening before the benchmark (bounded discovery, statement timeout, health checks, silent secrets).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</a:rPr>
              <a:t>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463040" cy="457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</a:rPr>
              <a:t>OraViz MCP · github.com/jasperan/oraviz-mcp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1B1B"/>
                </a:solidFill>
              </a:rPr>
              <a:t>•  MCP server design is context engineering: schemas and results are budgets you control.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1B1B"/>
                </a:solidFill>
              </a:rPr>
              <a:t>•  A bounded contract turns result cost into configuration, not data size.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1B1B"/>
                </a:solidFill>
              </a:rPr>
              <a:t>•  Minimal surfaces + visualization answer questions at a fraction of the text.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1B1B"/>
                </a:solidFill>
              </a:rPr>
              <a:t>•  Measure honestly: report the stages where the lightweight server loses, and why they stay bounded.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572000"/>
            <a:ext cx="10881360" cy="1371600"/>
          </a:xfrm>
          <a:prstGeom prst="roundRect">
            <a:avLst/>
          </a:prstGeom>
          <a:solidFill>
            <a:srgbClr val="F4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/>
            <a:r>
              <a:rPr sz="1500" b="1">
                <a:solidFill>
                  <a:srgbClr val="1B1B1B"/>
                </a:solidFill>
              </a:rPr>
              <a:t>Server:  github.com/jasperan/oraviz-mcp</a:t>
            </a:r>
          </a:p>
          <a:p>
            <a:r>
              <a:rPr sz="1400" b="0">
                <a:solidFill>
                  <a:srgbClr val="6B6B6B"/>
                </a:solidFill>
              </a:rPr>
              <a:t>Benchmark:  benchmarks/  ·  Paper:  paper/paper.pdf  ·  Site:  jasperan.github.io/oraviz-mcp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Efficient MCP Servers</dc:title>
  <dc:subject/>
  <dc:creator>Nacho Martinez</dc:creator>
  <cp:keywords/>
  <dc:description>Results deck for the OraViz MCP server (github.com/jasperan/oraviz-mcp)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